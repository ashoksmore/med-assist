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0B1F3A"/>
                </a:solidFill>
              </a:defRPr>
            </a:pPr>
            <a:r>
              <a:t>MedAssist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651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E4C5E"/>
                </a:solidFill>
              </a:defRPr>
            </a:pPr>
            <a:r>
              <a:t>Age-Aware Plain Summary and Question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E4C5E"/>
                </a:solidFill>
              </a:defRPr>
            </a:pPr>
            <a:r>
              <a:t>Track: Improve Patient Experience | Team: [Team Name] | Members: [Name 1], [Name 2], [Name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5AA8"/>
                </a:solidFill>
              </a:defRPr>
            </a:pPr>
            <a:r>
              <a:t>The gap is follow-through, not diagnosis.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C2026"/>
                </a:solidFill>
              </a:defRPr>
            </a:pPr>
            <a:r>
              <a:t>Post-visit instructions are often dense and hard to follow.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Patients miss medication, lab, and follow-up steps.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Patients and caregivers are often unsure what to ask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Why Synthea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5AA8"/>
                </a:solidFill>
              </a:defRPr>
            </a:pPr>
            <a:r>
              <a:t>Safe, practical, and evaluation-ready data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C2026"/>
                </a:solidFill>
              </a:defRPr>
            </a:pPr>
            <a:r>
              <a:t>Fully synthetic patient notes (no PHI risk).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Fast to curate for hackathon timeline and demos.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Supports age-band scenarios (young adult, adult, senior).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Aligned with trust and transparency expectations.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Use-Case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5AA8"/>
                </a:solidFill>
              </a:defRPr>
            </a:pPr>
            <a:r>
              <a:t>From synthetic note to patient-ready doctor question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11680"/>
            <a:ext cx="224028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F3A"/>
                </a:solidFill>
              </a:defRPr>
            </a:pPr>
            <a:r>
              <a:t>1. Input</a:t>
            </a:r>
            <a:br/>
            <a:r>
              <a:t>Synthetic</a:t>
            </a:r>
            <a:br/>
            <a:r>
              <a:t>Synthea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1488" y="26060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8648" y="2011680"/>
            <a:ext cx="224028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F3A"/>
                </a:solidFill>
              </a:defRPr>
            </a:pPr>
            <a:r>
              <a:t>2. Generate</a:t>
            </a:r>
            <a:br/>
            <a:r>
              <a:t>Summary +</a:t>
            </a:r>
            <a:br/>
            <a:r>
              <a:t>Checklist +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7216" y="26060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294376" y="2011680"/>
            <a:ext cx="224028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F3A"/>
                </a:solidFill>
              </a:defRPr>
            </a:pPr>
            <a:r>
              <a:t>3. Guardrails</a:t>
            </a:r>
            <a:br/>
            <a:r>
              <a:t>Source checks</a:t>
            </a:r>
            <a:br/>
            <a:r>
              <a:t>Safety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2944" y="26060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0104" y="2011680"/>
            <a:ext cx="224028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F3A"/>
                </a:solidFill>
              </a:defRPr>
            </a:pPr>
            <a:r>
              <a:t>4. Review</a:t>
            </a:r>
            <a:br/>
            <a:r>
              <a:t>Human approve</a:t>
            </a:r>
            <a:br/>
            <a:r>
              <a:t>or 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48672" y="26060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5AA8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85832" y="2011680"/>
            <a:ext cx="224028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F3A"/>
                </a:solidFill>
              </a:defRPr>
            </a:pPr>
            <a:r>
              <a:t>5. Final</a:t>
            </a:r>
            <a:br/>
            <a:r>
              <a:t>Top-3 Visit</a:t>
            </a:r>
            <a:br/>
            <a:r>
              <a:t>Question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07899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C2026"/>
                </a:solidFill>
              </a:defRPr>
            </a:pPr>
            <a:r>
              <a:t>Patient impact: clearer next steps, better follow-up questions, stronger readiness.</a:t>
            </a:r>
          </a:p>
          <a:p>
            <a:pPr>
              <a:defRPr sz="2000">
                <a:solidFill>
                  <a:srgbClr val="1C2026"/>
                </a:solidFill>
              </a:defRPr>
            </a:pPr>
            <a:r>
              <a:t>Operational impact: fewer avoidable clarification loops after visits.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Trust, Safety, and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C2026"/>
                </a:solidFill>
              </a:defRPr>
            </a:pPr>
            <a:r>
              <a:t>Safety guardrails: source-anchored checks and unsupported-claim controls.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Label: "Conversation starters, not medical advice."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Human approve/edit gate before patient-facing output.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Tech stack: React frontend + FastAPI backend + Azure OpenAI.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Evaluation Metrics and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C2026"/>
                </a:solidFill>
              </a:defRPr>
            </a:pPr>
            <a:r>
              <a:t>Primary KPI: Task Comprehension Accuracy (%) vs 7-item gold checklist.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Method: n=5 within-subject pilot, counterbalanced raw vs MedAssist.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Secondary: question coverage, usefulness, unsupported claim rate, readiness time.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Targets: +25 point comprehension gain and 0% unsupported claims post-review.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</a:defRPr>
            </a:pPr>
            <a:r>
              <a:t>Results Template and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5AA8"/>
                </a:solidFill>
              </a:defRPr>
            </a:pPr>
            <a:r>
              <a:t>Measured, safe, and practical workflow improvement.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C2026"/>
                </a:solidFill>
              </a:defRPr>
            </a:pPr>
            <a:r>
              <a:t>Raw comprehension: [X]%   |   MedAssist comprehension: [Y]%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Median time to readiness: [A] min -&gt; [B] min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Readability: grade [M] -&gt; [N]</a:t>
            </a:r>
          </a:p>
          <a:p>
            <a:pPr>
              <a:defRPr sz="2300">
                <a:solidFill>
                  <a:srgbClr val="1C2026"/>
                </a:solidFill>
              </a:defRPr>
            </a:pPr>
            <a:r>
              <a:t>Next step: broader outpatient validation and multilingual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E4C5E"/>
                </a:solidFill>
              </a:defRPr>
            </a:pPr>
            <a:r>
              <a:t>MedAssist | athenahealth Hackathon | Slide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